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70042"/>
            <a:ext cx="4037075" cy="418795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92551"/>
            <a:ext cx="1522475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99476" y="0"/>
            <a:ext cx="1603248" cy="114147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06028" y="6095996"/>
            <a:ext cx="993648" cy="7619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E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70042"/>
            <a:ext cx="4037075" cy="418795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551"/>
            <a:ext cx="1522475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0"/>
            <a:ext cx="1603248" cy="11414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6028" y="6095996"/>
            <a:ext cx="993648" cy="76199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E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5032" y="1191005"/>
            <a:ext cx="10701934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6688" y="2215642"/>
            <a:ext cx="8796655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972" y="1097280"/>
            <a:ext cx="9961880" cy="1214120"/>
            <a:chOff x="537972" y="1097280"/>
            <a:chExt cx="9961880" cy="1214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972" y="1097280"/>
              <a:ext cx="4124705" cy="7871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5572" y="1097280"/>
              <a:ext cx="645413" cy="7871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3880" y="1097280"/>
              <a:ext cx="6125718" cy="7871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972" y="1524000"/>
              <a:ext cx="4239006" cy="78714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DEEP</a:t>
            </a:r>
            <a:r>
              <a:rPr spc="-250" dirty="0"/>
              <a:t> </a:t>
            </a:r>
            <a:r>
              <a:rPr spc="-165" dirty="0"/>
              <a:t>LEARNING</a:t>
            </a:r>
            <a:r>
              <a:rPr spc="-140" dirty="0"/>
              <a:t> </a:t>
            </a:r>
            <a:r>
              <a:rPr spc="30" dirty="0"/>
              <a:t>CNN</a:t>
            </a:r>
            <a:r>
              <a:rPr spc="55" dirty="0"/>
              <a:t> </a:t>
            </a:r>
            <a:r>
              <a:rPr spc="-190" dirty="0"/>
              <a:t>–BASED</a:t>
            </a:r>
            <a:r>
              <a:rPr spc="-229" dirty="0"/>
              <a:t> </a:t>
            </a:r>
            <a:r>
              <a:rPr spc="-250" dirty="0"/>
              <a:t>IDENTIFICATION</a:t>
            </a:r>
            <a:r>
              <a:rPr spc="-175" dirty="0"/>
              <a:t> </a:t>
            </a:r>
            <a:r>
              <a:rPr spc="-35" dirty="0"/>
              <a:t>OF</a:t>
            </a:r>
            <a:r>
              <a:rPr spc="-65" dirty="0"/>
              <a:t> </a:t>
            </a:r>
            <a:r>
              <a:rPr spc="-190" dirty="0"/>
              <a:t>PLANT </a:t>
            </a:r>
            <a:r>
              <a:rPr spc="-805" dirty="0"/>
              <a:t> </a:t>
            </a:r>
            <a:r>
              <a:rPr spc="-409" dirty="0"/>
              <a:t>N</a:t>
            </a:r>
            <a:r>
              <a:rPr spc="-420" dirty="0"/>
              <a:t>U</a:t>
            </a:r>
            <a:r>
              <a:rPr spc="-409" dirty="0"/>
              <a:t>T</a:t>
            </a:r>
            <a:r>
              <a:rPr spc="-420" dirty="0"/>
              <a:t>R</a:t>
            </a:r>
            <a:r>
              <a:rPr spc="-290" dirty="0"/>
              <a:t>I</a:t>
            </a:r>
            <a:r>
              <a:rPr spc="-335" dirty="0"/>
              <a:t>E</a:t>
            </a:r>
            <a:r>
              <a:rPr spc="-325" dirty="0"/>
              <a:t>N</a:t>
            </a:r>
            <a:r>
              <a:rPr spc="-5" dirty="0"/>
              <a:t>T</a:t>
            </a:r>
            <a:r>
              <a:rPr spc="-254" dirty="0"/>
              <a:t> </a:t>
            </a:r>
            <a:r>
              <a:rPr spc="-250" dirty="0"/>
              <a:t>DEF</a:t>
            </a:r>
            <a:r>
              <a:rPr spc="-245" dirty="0"/>
              <a:t>I</a:t>
            </a:r>
            <a:r>
              <a:rPr spc="-240" dirty="0"/>
              <a:t>C</a:t>
            </a:r>
            <a:r>
              <a:rPr spc="-245" dirty="0"/>
              <a:t>I</a:t>
            </a:r>
            <a:r>
              <a:rPr spc="-250" dirty="0"/>
              <a:t>E</a:t>
            </a:r>
            <a:r>
              <a:rPr spc="-315" dirty="0"/>
              <a:t>N</a:t>
            </a:r>
            <a:r>
              <a:rPr spc="80" dirty="0"/>
              <a:t>CY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37326" y="4544418"/>
            <a:ext cx="3636010" cy="131508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800" b="1" spc="-165" dirty="0">
                <a:solidFill>
                  <a:srgbClr val="88D0D4"/>
                </a:solidFill>
                <a:latin typeface="Tahoma"/>
                <a:cs typeface="Tahoma"/>
              </a:rPr>
              <a:t>PR</a:t>
            </a:r>
            <a:r>
              <a:rPr sz="2800" b="1" spc="-170" dirty="0">
                <a:solidFill>
                  <a:srgbClr val="88D0D4"/>
                </a:solidFill>
                <a:latin typeface="Tahoma"/>
                <a:cs typeface="Tahoma"/>
              </a:rPr>
              <a:t>O</a:t>
            </a:r>
            <a:r>
              <a:rPr sz="2800" b="1" spc="-160" dirty="0">
                <a:solidFill>
                  <a:srgbClr val="88D0D4"/>
                </a:solidFill>
                <a:latin typeface="Tahoma"/>
                <a:cs typeface="Tahoma"/>
              </a:rPr>
              <a:t>J</a:t>
            </a:r>
            <a:r>
              <a:rPr sz="2800" b="1" spc="-165" dirty="0">
                <a:solidFill>
                  <a:srgbClr val="88D0D4"/>
                </a:solidFill>
                <a:latin typeface="Tahoma"/>
                <a:cs typeface="Tahoma"/>
              </a:rPr>
              <a:t>E</a:t>
            </a:r>
            <a:r>
              <a:rPr sz="2800" b="1" spc="-155" dirty="0">
                <a:solidFill>
                  <a:srgbClr val="88D0D4"/>
                </a:solidFill>
                <a:latin typeface="Tahoma"/>
                <a:cs typeface="Tahoma"/>
              </a:rPr>
              <a:t>C</a:t>
            </a:r>
            <a:r>
              <a:rPr sz="2800" b="1" spc="-5" dirty="0">
                <a:solidFill>
                  <a:srgbClr val="88D0D4"/>
                </a:solidFill>
                <a:latin typeface="Tahoma"/>
                <a:cs typeface="Tahoma"/>
              </a:rPr>
              <a:t>T</a:t>
            </a:r>
            <a:r>
              <a:rPr sz="2800" b="1" spc="-170" dirty="0">
                <a:solidFill>
                  <a:srgbClr val="88D0D4"/>
                </a:solidFill>
                <a:latin typeface="Tahoma"/>
                <a:cs typeface="Tahoma"/>
              </a:rPr>
              <a:t> </a:t>
            </a:r>
            <a:r>
              <a:rPr sz="2800" b="1" spc="-300" dirty="0">
                <a:solidFill>
                  <a:srgbClr val="88D0D4"/>
                </a:solidFill>
                <a:latin typeface="Tahoma"/>
                <a:cs typeface="Tahoma"/>
              </a:rPr>
              <a:t>S</a:t>
            </a:r>
            <a:r>
              <a:rPr sz="2800" b="1" spc="-310" dirty="0">
                <a:solidFill>
                  <a:srgbClr val="88D0D4"/>
                </a:solidFill>
                <a:latin typeface="Tahoma"/>
                <a:cs typeface="Tahoma"/>
              </a:rPr>
              <a:t>UP</a:t>
            </a:r>
            <a:r>
              <a:rPr sz="2800" b="1" spc="-315" dirty="0">
                <a:solidFill>
                  <a:srgbClr val="88D0D4"/>
                </a:solidFill>
                <a:latin typeface="Tahoma"/>
                <a:cs typeface="Tahoma"/>
              </a:rPr>
              <a:t>E</a:t>
            </a:r>
            <a:r>
              <a:rPr sz="2800" b="1" spc="-310" dirty="0">
                <a:solidFill>
                  <a:srgbClr val="88D0D4"/>
                </a:solidFill>
                <a:latin typeface="Tahoma"/>
                <a:cs typeface="Tahoma"/>
              </a:rPr>
              <a:t>RV</a:t>
            </a:r>
            <a:r>
              <a:rPr sz="2800" b="1" spc="-305" dirty="0">
                <a:solidFill>
                  <a:srgbClr val="88D0D4"/>
                </a:solidFill>
                <a:latin typeface="Tahoma"/>
                <a:cs typeface="Tahoma"/>
              </a:rPr>
              <a:t>I</a:t>
            </a:r>
            <a:r>
              <a:rPr sz="2800" b="1" spc="-315" dirty="0">
                <a:solidFill>
                  <a:srgbClr val="88D0D4"/>
                </a:solidFill>
                <a:latin typeface="Tahoma"/>
                <a:cs typeface="Tahoma"/>
              </a:rPr>
              <a:t>S</a:t>
            </a:r>
            <a:r>
              <a:rPr sz="2800" b="1" spc="-120" dirty="0">
                <a:solidFill>
                  <a:srgbClr val="88D0D4"/>
                </a:solidFill>
                <a:latin typeface="Tahoma"/>
                <a:cs typeface="Tahoma"/>
              </a:rPr>
              <a:t>OR</a:t>
            </a:r>
            <a:endParaRPr sz="2800">
              <a:latin typeface="Tahoma"/>
              <a:cs typeface="Tahoma"/>
            </a:endParaRPr>
          </a:p>
          <a:p>
            <a:pPr marL="68580">
              <a:lnSpc>
                <a:spcPct val="100000"/>
              </a:lnSpc>
              <a:spcBef>
                <a:spcPts val="580"/>
              </a:spcBef>
            </a:pPr>
            <a:r>
              <a:rPr sz="1800" spc="-155" dirty="0">
                <a:solidFill>
                  <a:srgbClr val="88D0D4"/>
                </a:solidFill>
                <a:latin typeface="Verdana"/>
                <a:cs typeface="Verdana"/>
              </a:rPr>
              <a:t>D</a:t>
            </a:r>
            <a:r>
              <a:rPr sz="1800" spc="-160" dirty="0">
                <a:solidFill>
                  <a:srgbClr val="88D0D4"/>
                </a:solidFill>
                <a:latin typeface="Verdana"/>
                <a:cs typeface="Verdana"/>
              </a:rPr>
              <a:t>R</a:t>
            </a:r>
            <a:r>
              <a:rPr sz="1800" spc="-95" dirty="0">
                <a:solidFill>
                  <a:srgbClr val="88D0D4"/>
                </a:solidFill>
                <a:latin typeface="Verdana"/>
                <a:cs typeface="Verdana"/>
              </a:rPr>
              <a:t>.</a:t>
            </a:r>
            <a:r>
              <a:rPr sz="1800" spc="-345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190" dirty="0">
                <a:solidFill>
                  <a:srgbClr val="88D0D4"/>
                </a:solidFill>
                <a:latin typeface="Verdana"/>
                <a:cs typeface="Verdana"/>
              </a:rPr>
              <a:t>.</a:t>
            </a:r>
            <a:r>
              <a:rPr sz="1800" spc="45" dirty="0">
                <a:solidFill>
                  <a:srgbClr val="88D0D4"/>
                </a:solidFill>
                <a:latin typeface="Verdana"/>
                <a:cs typeface="Verdana"/>
              </a:rPr>
              <a:t>N</a:t>
            </a:r>
            <a:r>
              <a:rPr sz="1800" spc="65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140" dirty="0">
                <a:solidFill>
                  <a:srgbClr val="88D0D4"/>
                </a:solidFill>
                <a:latin typeface="Verdana"/>
                <a:cs typeface="Verdana"/>
              </a:rPr>
              <a:t>G</a:t>
            </a:r>
            <a:r>
              <a:rPr sz="1800" spc="145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-90" dirty="0">
                <a:solidFill>
                  <a:srgbClr val="88D0D4"/>
                </a:solidFill>
                <a:latin typeface="Verdana"/>
                <a:cs typeface="Verdana"/>
              </a:rPr>
              <a:t>RJ</a:t>
            </a:r>
            <a:r>
              <a:rPr sz="1800" spc="-130" dirty="0">
                <a:solidFill>
                  <a:srgbClr val="88D0D4"/>
                </a:solidFill>
                <a:latin typeface="Verdana"/>
                <a:cs typeface="Verdana"/>
              </a:rPr>
              <a:t>U</a:t>
            </a:r>
            <a:r>
              <a:rPr sz="1800" spc="30" dirty="0">
                <a:solidFill>
                  <a:srgbClr val="88D0D4"/>
                </a:solidFill>
                <a:latin typeface="Verdana"/>
                <a:cs typeface="Verdana"/>
              </a:rPr>
              <a:t>N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-90" dirty="0">
                <a:solidFill>
                  <a:srgbClr val="88D0D4"/>
                </a:solidFill>
                <a:latin typeface="Verdana"/>
                <a:cs typeface="Verdana"/>
              </a:rPr>
              <a:t> R</a:t>
            </a:r>
            <a:r>
              <a:rPr sz="1800" spc="-85" dirty="0">
                <a:solidFill>
                  <a:srgbClr val="88D0D4"/>
                </a:solidFill>
                <a:latin typeface="Verdana"/>
                <a:cs typeface="Verdana"/>
              </a:rPr>
              <a:t>E</a:t>
            </a:r>
            <a:r>
              <a:rPr sz="1800" spc="-80" dirty="0">
                <a:solidFill>
                  <a:srgbClr val="88D0D4"/>
                </a:solidFill>
                <a:latin typeface="Verdana"/>
                <a:cs typeface="Verdana"/>
              </a:rPr>
              <a:t>D</a:t>
            </a:r>
            <a:r>
              <a:rPr sz="1800" spc="-95" dirty="0">
                <a:solidFill>
                  <a:srgbClr val="88D0D4"/>
                </a:solidFill>
                <a:latin typeface="Verdana"/>
                <a:cs typeface="Verdana"/>
              </a:rPr>
              <a:t>D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Y</a:t>
            </a:r>
            <a:endParaRPr sz="1800">
              <a:latin typeface="Verdana"/>
              <a:cs typeface="Verdana"/>
            </a:endParaRPr>
          </a:p>
          <a:p>
            <a:pPr marL="41275">
              <a:lnSpc>
                <a:spcPct val="100000"/>
              </a:lnSpc>
              <a:spcBef>
                <a:spcPts val="994"/>
              </a:spcBef>
            </a:pPr>
            <a:r>
              <a:rPr sz="1800" spc="110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-360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335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5" dirty="0">
                <a:solidFill>
                  <a:srgbClr val="88D0D4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C</a:t>
            </a:r>
            <a:r>
              <a:rPr sz="1800" spc="5" dirty="0">
                <a:solidFill>
                  <a:srgbClr val="88D0D4"/>
                </a:solidFill>
                <a:latin typeface="Verdana"/>
                <a:cs typeface="Verdana"/>
              </a:rPr>
              <a:t>I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-370" dirty="0">
                <a:solidFill>
                  <a:srgbClr val="88D0D4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E</a:t>
            </a:r>
            <a:r>
              <a:rPr sz="1800" spc="-370" dirty="0">
                <a:solidFill>
                  <a:srgbClr val="88D0D4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88D0D4"/>
                </a:solidFill>
                <a:latin typeface="Verdana"/>
                <a:cs typeface="Verdana"/>
              </a:rPr>
              <a:t>PROF</a:t>
            </a:r>
            <a:r>
              <a:rPr sz="1800" spc="-120" dirty="0">
                <a:solidFill>
                  <a:srgbClr val="88D0D4"/>
                </a:solidFill>
                <a:latin typeface="Verdana"/>
                <a:cs typeface="Verdana"/>
              </a:rPr>
              <a:t>E</a:t>
            </a:r>
            <a:r>
              <a:rPr sz="1800" spc="-140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114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125" dirty="0">
                <a:solidFill>
                  <a:srgbClr val="88D0D4"/>
                </a:solidFill>
                <a:latin typeface="Verdana"/>
                <a:cs typeface="Verdana"/>
              </a:rPr>
              <a:t>O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025" y="4544418"/>
            <a:ext cx="3130550" cy="171640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800" b="1" spc="-170" dirty="0">
                <a:solidFill>
                  <a:srgbClr val="88D0D4"/>
                </a:solidFill>
                <a:latin typeface="Tahoma"/>
                <a:cs typeface="Tahoma"/>
              </a:rPr>
              <a:t>T</a:t>
            </a:r>
            <a:r>
              <a:rPr sz="2800" b="1" spc="-180" dirty="0">
                <a:solidFill>
                  <a:srgbClr val="88D0D4"/>
                </a:solidFill>
                <a:latin typeface="Tahoma"/>
                <a:cs typeface="Tahoma"/>
              </a:rPr>
              <a:t>E</a:t>
            </a:r>
            <a:r>
              <a:rPr sz="2800" b="1" spc="-170" dirty="0">
                <a:solidFill>
                  <a:srgbClr val="88D0D4"/>
                </a:solidFill>
                <a:latin typeface="Tahoma"/>
                <a:cs typeface="Tahoma"/>
              </a:rPr>
              <a:t>A</a:t>
            </a:r>
            <a:r>
              <a:rPr sz="2800" b="1" spc="-5" dirty="0">
                <a:solidFill>
                  <a:srgbClr val="88D0D4"/>
                </a:solidFill>
                <a:latin typeface="Tahoma"/>
                <a:cs typeface="Tahoma"/>
              </a:rPr>
              <a:t>M</a:t>
            </a:r>
            <a:r>
              <a:rPr sz="2800" b="1" spc="-180" dirty="0">
                <a:solidFill>
                  <a:srgbClr val="88D0D4"/>
                </a:solidFill>
                <a:latin typeface="Tahoma"/>
                <a:cs typeface="Tahoma"/>
              </a:rPr>
              <a:t> </a:t>
            </a:r>
            <a:r>
              <a:rPr sz="2800" b="1" spc="-225" dirty="0">
                <a:solidFill>
                  <a:srgbClr val="88D0D4"/>
                </a:solidFill>
                <a:latin typeface="Tahoma"/>
                <a:cs typeface="Tahoma"/>
              </a:rPr>
              <a:t>M</a:t>
            </a:r>
            <a:r>
              <a:rPr sz="2800" b="1" spc="-229" dirty="0">
                <a:solidFill>
                  <a:srgbClr val="88D0D4"/>
                </a:solidFill>
                <a:latin typeface="Tahoma"/>
                <a:cs typeface="Tahoma"/>
              </a:rPr>
              <a:t>E</a:t>
            </a:r>
            <a:r>
              <a:rPr sz="2800" b="1" spc="-225" dirty="0">
                <a:solidFill>
                  <a:srgbClr val="88D0D4"/>
                </a:solidFill>
                <a:latin typeface="Tahoma"/>
                <a:cs typeface="Tahoma"/>
              </a:rPr>
              <a:t>MB</a:t>
            </a:r>
            <a:r>
              <a:rPr sz="2800" b="1" spc="-229" dirty="0">
                <a:solidFill>
                  <a:srgbClr val="88D0D4"/>
                </a:solidFill>
                <a:latin typeface="Tahoma"/>
                <a:cs typeface="Tahoma"/>
              </a:rPr>
              <a:t>E</a:t>
            </a:r>
            <a:r>
              <a:rPr sz="2800" b="1" spc="-225" dirty="0">
                <a:solidFill>
                  <a:srgbClr val="88D0D4"/>
                </a:solidFill>
                <a:latin typeface="Tahoma"/>
                <a:cs typeface="Tahoma"/>
              </a:rPr>
              <a:t>R</a:t>
            </a:r>
            <a:r>
              <a:rPr sz="2800" b="1" spc="-5" dirty="0">
                <a:solidFill>
                  <a:srgbClr val="88D0D4"/>
                </a:solidFill>
                <a:latin typeface="Tahoma"/>
                <a:cs typeface="Tahoma"/>
              </a:rPr>
              <a:t>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800" spc="-95" dirty="0">
                <a:solidFill>
                  <a:srgbClr val="88D0D4"/>
                </a:solidFill>
                <a:latin typeface="Verdana"/>
                <a:cs typeface="Verdana"/>
              </a:rPr>
              <a:t>B.MALYADRI(21761A0573)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125" dirty="0">
                <a:solidFill>
                  <a:srgbClr val="88D0D4"/>
                </a:solidFill>
                <a:latin typeface="Verdana"/>
                <a:cs typeface="Verdana"/>
              </a:rPr>
              <a:t>T.SAI(21761A05C8)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260" dirty="0">
                <a:solidFill>
                  <a:srgbClr val="88D0D4"/>
                </a:solidFill>
                <a:latin typeface="Verdana"/>
                <a:cs typeface="Verdana"/>
              </a:rPr>
              <a:t>S</a:t>
            </a:r>
            <a:r>
              <a:rPr sz="1800" spc="-265" dirty="0">
                <a:solidFill>
                  <a:srgbClr val="88D0D4"/>
                </a:solidFill>
                <a:latin typeface="Verdana"/>
                <a:cs typeface="Verdana"/>
              </a:rPr>
              <a:t>K</a:t>
            </a:r>
            <a:r>
              <a:rPr sz="1800" spc="-175" dirty="0">
                <a:solidFill>
                  <a:srgbClr val="88D0D4"/>
                </a:solidFill>
                <a:latin typeface="Verdana"/>
                <a:cs typeface="Verdana"/>
              </a:rPr>
              <a:t>.</a:t>
            </a:r>
            <a:r>
              <a:rPr sz="1800" spc="45" dirty="0">
                <a:solidFill>
                  <a:srgbClr val="88D0D4"/>
                </a:solidFill>
                <a:latin typeface="Verdana"/>
                <a:cs typeface="Verdana"/>
              </a:rPr>
              <a:t>N</a:t>
            </a:r>
            <a:r>
              <a:rPr sz="1800" spc="65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5" dirty="0">
                <a:solidFill>
                  <a:srgbClr val="88D0D4"/>
                </a:solidFill>
                <a:latin typeface="Verdana"/>
                <a:cs typeface="Verdana"/>
              </a:rPr>
              <a:t>G</a:t>
            </a:r>
            <a:r>
              <a:rPr sz="1800" spc="-10" dirty="0">
                <a:solidFill>
                  <a:srgbClr val="88D0D4"/>
                </a:solidFill>
                <a:latin typeface="Verdana"/>
                <a:cs typeface="Verdana"/>
              </a:rPr>
              <a:t>U</a:t>
            </a:r>
            <a:r>
              <a:rPr sz="1800" spc="-155" dirty="0">
                <a:solidFill>
                  <a:srgbClr val="88D0D4"/>
                </a:solidFill>
                <a:latin typeface="Verdana"/>
                <a:cs typeface="Verdana"/>
              </a:rPr>
              <a:t>L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U</a:t>
            </a:r>
            <a:r>
              <a:rPr sz="1800" spc="-270" dirty="0">
                <a:solidFill>
                  <a:srgbClr val="88D0D4"/>
                </a:solidFill>
                <a:latin typeface="Verdana"/>
                <a:cs typeface="Verdana"/>
              </a:rPr>
              <a:t> </a:t>
            </a:r>
            <a:r>
              <a:rPr sz="1800" spc="-350" dirty="0">
                <a:solidFill>
                  <a:srgbClr val="88D0D4"/>
                </a:solidFill>
                <a:latin typeface="Verdana"/>
                <a:cs typeface="Verdana"/>
              </a:rPr>
              <a:t>B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I</a:t>
            </a:r>
            <a:r>
              <a:rPr sz="1800" spc="-360" dirty="0">
                <a:solidFill>
                  <a:srgbClr val="88D0D4"/>
                </a:solidFill>
                <a:latin typeface="Verdana"/>
                <a:cs typeface="Verdana"/>
              </a:rPr>
              <a:t> </a:t>
            </a:r>
            <a:r>
              <a:rPr sz="1800" spc="-195" dirty="0">
                <a:solidFill>
                  <a:srgbClr val="88D0D4"/>
                </a:solidFill>
                <a:latin typeface="Verdana"/>
                <a:cs typeface="Verdana"/>
              </a:rPr>
              <a:t>(</a:t>
            </a:r>
            <a:r>
              <a:rPr sz="1800" spc="-160" dirty="0">
                <a:solidFill>
                  <a:srgbClr val="88D0D4"/>
                </a:solidFill>
                <a:latin typeface="Verdana"/>
                <a:cs typeface="Verdana"/>
              </a:rPr>
              <a:t>217</a:t>
            </a:r>
            <a:r>
              <a:rPr sz="1800" spc="-170" dirty="0">
                <a:solidFill>
                  <a:srgbClr val="88D0D4"/>
                </a:solidFill>
                <a:latin typeface="Verdana"/>
                <a:cs typeface="Verdana"/>
              </a:rPr>
              <a:t>6</a:t>
            </a:r>
            <a:r>
              <a:rPr sz="1800" spc="-165" dirty="0">
                <a:solidFill>
                  <a:srgbClr val="88D0D4"/>
                </a:solidFill>
                <a:latin typeface="Verdana"/>
                <a:cs typeface="Verdana"/>
              </a:rPr>
              <a:t>1</a:t>
            </a:r>
            <a:r>
              <a:rPr sz="1800" spc="125" dirty="0">
                <a:solidFill>
                  <a:srgbClr val="88D0D4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88D0D4"/>
                </a:solidFill>
                <a:latin typeface="Verdana"/>
                <a:cs typeface="Verdana"/>
              </a:rPr>
              <a:t>05</a:t>
            </a:r>
            <a:r>
              <a:rPr sz="1800" spc="-60" dirty="0">
                <a:solidFill>
                  <a:srgbClr val="88D0D4"/>
                </a:solidFill>
                <a:latin typeface="Verdana"/>
                <a:cs typeface="Verdana"/>
              </a:rPr>
              <a:t>C</a:t>
            </a:r>
            <a:r>
              <a:rPr sz="1800" spc="-65" dirty="0">
                <a:solidFill>
                  <a:srgbClr val="88D0D4"/>
                </a:solidFill>
                <a:latin typeface="Verdana"/>
                <a:cs typeface="Verdana"/>
              </a:rPr>
              <a:t>1</a:t>
            </a:r>
            <a:r>
              <a:rPr sz="1800" dirty="0">
                <a:solidFill>
                  <a:srgbClr val="88D0D4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954786"/>
            <a:ext cx="2073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95" dirty="0"/>
              <a:t>C</a:t>
            </a:r>
            <a:r>
              <a:rPr sz="3200" spc="-190" dirty="0"/>
              <a:t>ON</a:t>
            </a:r>
            <a:r>
              <a:rPr sz="3200" spc="-200" dirty="0"/>
              <a:t>TE</a:t>
            </a:r>
            <a:r>
              <a:rPr sz="3200" spc="-190" dirty="0"/>
              <a:t>N</a:t>
            </a:r>
            <a:r>
              <a:rPr sz="3200" spc="-200" dirty="0"/>
              <a:t>T</a:t>
            </a:r>
            <a:r>
              <a:rPr sz="3200" dirty="0"/>
              <a:t>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5311" y="1792438"/>
            <a:ext cx="3498089" cy="350095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0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Literature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ting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endParaRPr lang="en-IN" sz="2000" spc="-4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IN" sz="2000" spc="-40" dirty="0">
                <a:solidFill>
                  <a:srgbClr val="FFFFFF"/>
                </a:solidFill>
                <a:latin typeface="Calibri"/>
                <a:cs typeface="Calibri"/>
              </a:rPr>
              <a:t>Proposed Architecture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611" y="962406"/>
            <a:ext cx="19723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15" dirty="0"/>
              <a:t>ABSTRACT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52652" y="1654301"/>
            <a:ext cx="923099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5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presents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novel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application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deep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automated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identification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plant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nutrient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deficiencies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agriculture.</a:t>
            </a:r>
            <a:r>
              <a:rPr sz="200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Utilizing</a:t>
            </a:r>
            <a:r>
              <a:rPr sz="2000" spc="4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convolutional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neural networks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(CNNs)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curated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dataset,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our model achieves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high accuracy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real-time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detection of nutrient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deficiencies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across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diverse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environmental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conditions.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system's</a:t>
            </a:r>
            <a:r>
              <a:rPr sz="200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interpretability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enhanced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through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saliency maps,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providing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insights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into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decision-making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process. Extensive testing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various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crops demonstrates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model's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robustness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generalizability,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offering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valuable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farmers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agronomists.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contributes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precision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agriculture,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facilitating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timely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interventions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promoting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sustainability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through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increased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crop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productivity and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efficiency.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611" y="962406"/>
            <a:ext cx="4089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35" dirty="0"/>
              <a:t>P</a:t>
            </a:r>
            <a:r>
              <a:rPr sz="3200" spc="-229" dirty="0"/>
              <a:t>R</a:t>
            </a:r>
            <a:r>
              <a:rPr sz="3200" spc="-225" dirty="0"/>
              <a:t>O</a:t>
            </a:r>
            <a:r>
              <a:rPr sz="3200" spc="-235" dirty="0"/>
              <a:t>B</a:t>
            </a:r>
            <a:r>
              <a:rPr sz="3200" spc="-229" dirty="0"/>
              <a:t>LE</a:t>
            </a:r>
            <a:r>
              <a:rPr sz="3200" dirty="0"/>
              <a:t>M</a:t>
            </a:r>
            <a:r>
              <a:rPr sz="3200" spc="-320" dirty="0"/>
              <a:t> </a:t>
            </a:r>
            <a:r>
              <a:rPr sz="3200" spc="-300" dirty="0"/>
              <a:t>S</a:t>
            </a:r>
            <a:r>
              <a:rPr sz="3200" spc="-305" dirty="0"/>
              <a:t>T</a:t>
            </a:r>
            <a:r>
              <a:rPr sz="3200" spc="-295" dirty="0"/>
              <a:t>A</a:t>
            </a:r>
            <a:r>
              <a:rPr sz="3200" spc="-305" dirty="0"/>
              <a:t>TEME</a:t>
            </a:r>
            <a:r>
              <a:rPr sz="3200" spc="-295" dirty="0"/>
              <a:t>N</a:t>
            </a:r>
            <a:r>
              <a:rPr sz="3200" dirty="0"/>
              <a:t>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06297" y="1747773"/>
            <a:ext cx="91782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88D0D4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Nutrient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deficiency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plants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 a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critical 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factor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that significantly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impacts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agricultural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productivity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food 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security.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Identifying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addressing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deficiencies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timely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manner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is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crucial</a:t>
            </a:r>
            <a:r>
              <a:rPr sz="2400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optimizing</a:t>
            </a:r>
            <a:r>
              <a:rPr sz="2400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crop </a:t>
            </a:r>
            <a:r>
              <a:rPr sz="2400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yield and 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quality. 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Traditional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methods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nutrient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deficiency detection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often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rely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visual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inspection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by agricultural experts,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which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can be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time-consuming,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subjective,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prone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611" y="476250"/>
            <a:ext cx="30118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45" dirty="0"/>
              <a:t>I</a:t>
            </a:r>
            <a:r>
              <a:rPr sz="3200" spc="-240" dirty="0"/>
              <a:t>N</a:t>
            </a:r>
            <a:r>
              <a:rPr sz="3200" spc="-245" dirty="0"/>
              <a:t>T</a:t>
            </a:r>
            <a:r>
              <a:rPr sz="3200" spc="-240" dirty="0"/>
              <a:t>R</a:t>
            </a:r>
            <a:r>
              <a:rPr sz="3200" spc="-235" dirty="0"/>
              <a:t>O</a:t>
            </a:r>
            <a:r>
              <a:rPr sz="3200" spc="-245" dirty="0"/>
              <a:t>DUCTI</a:t>
            </a:r>
            <a:r>
              <a:rPr sz="3200" spc="-235" dirty="0"/>
              <a:t>O</a:t>
            </a:r>
            <a:r>
              <a:rPr sz="3200" dirty="0"/>
              <a:t>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139" y="1283208"/>
            <a:ext cx="5384292" cy="5071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073" y="0"/>
            <a:ext cx="12099925" cy="6858000"/>
            <a:chOff x="92073" y="0"/>
            <a:chExt cx="1209992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73" y="0"/>
              <a:ext cx="12099925" cy="6857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73" y="2670042"/>
              <a:ext cx="4037076" cy="41879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73" y="2892551"/>
              <a:ext cx="1522476" cy="23652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1551" y="0"/>
              <a:ext cx="1603248" cy="1141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98102" y="6095996"/>
              <a:ext cx="993648" cy="761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90326" y="0"/>
              <a:ext cx="760488" cy="12039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29951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E1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24611" y="474726"/>
            <a:ext cx="3804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60" dirty="0"/>
              <a:t>LITERATURE</a:t>
            </a:r>
            <a:r>
              <a:rPr sz="3200" spc="395" dirty="0"/>
              <a:t> </a:t>
            </a:r>
            <a:r>
              <a:rPr sz="3200" spc="-345" dirty="0"/>
              <a:t>REVIEW</a:t>
            </a:r>
            <a:endParaRPr sz="3200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27050" y="1289050"/>
          <a:ext cx="11312523" cy="5410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1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114"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PUBLISHED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3098">
                <a:tc>
                  <a:txBody>
                    <a:bodyPr/>
                    <a:lstStyle/>
                    <a:p>
                      <a:pPr marL="91440" marR="396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ng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For  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ca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Of  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Plantnutrient 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Deficiencies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6735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.L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v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, 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M.Kalpana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Devi, 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M.Sowmya </a:t>
                      </a:r>
                      <a:r>
                        <a:rPr sz="1800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Vani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2022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91%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174625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 125,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Detects only Major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Deficiency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Plant.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987">
                <a:tc>
                  <a:txBody>
                    <a:bodyPr/>
                    <a:lstStyle/>
                    <a:p>
                      <a:pPr marL="91440" marR="5791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Nutrient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Deficiency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Detection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in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Mobile Captured </a:t>
                      </a:r>
                      <a:r>
                        <a:rPr sz="1800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Guava plants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using Light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Weight Deep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Convolutional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Neural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Networks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34975">
                        <a:lnSpc>
                          <a:spcPct val="109300"/>
                        </a:lnSpc>
                        <a:spcBef>
                          <a:spcPts val="12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Sona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Haris, </a:t>
                      </a:r>
                      <a:r>
                        <a:rPr sz="1800" spc="-6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N.Shobha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Rani,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Pushpa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B.R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2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87%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415290" indent="-58419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664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 marR="303530">
                        <a:lnSpc>
                          <a:spcPts val="216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Class Imbalance –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Majority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images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 marR="568325">
                        <a:lnSpc>
                          <a:spcPts val="216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belonging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healthy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09816" y="1212850"/>
          <a:ext cx="11235054" cy="54599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1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8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sz="1800" b="1" spc="-1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PUBLISHED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72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Deep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Learning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K.C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Nirasha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2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51435" algn="ctr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v5,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Mask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R-CNN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171450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v5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98%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Mask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R-CNN-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92%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57150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Scope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 marR="1320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Nutrient Deficiencies,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Blurry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Handling,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Image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Jayasiri,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Analysis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Sanjeevi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Detecting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Chandrasiri,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Nutrient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Shalini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Deficiencies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Rupasinghe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05518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Tomato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Plants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642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65"/>
                        </a:spcBef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Comparative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65"/>
                        </a:spcBef>
                      </a:pPr>
                      <a:r>
                        <a:rPr sz="1800" spc="-45" dirty="0">
                          <a:latin typeface="Verdana"/>
                          <a:cs typeface="Verdana"/>
                        </a:rPr>
                        <a:t>Bharath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VGG16,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 marR="3727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DenseNe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121,  InceptionV3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Xception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635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VGG16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92%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DenseNet121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92%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InceptionV3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88%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Xception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93%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 marR="831215">
                        <a:lnSpc>
                          <a:spcPts val="2110"/>
                        </a:lnSpc>
                        <a:spcBef>
                          <a:spcPts val="6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Disease,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nutrient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6045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imbalances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234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udy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1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spc="15" dirty="0">
                          <a:latin typeface="Verdana"/>
                          <a:cs typeface="Verdana"/>
                        </a:rPr>
                        <a:t>Anand,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192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sh</a:t>
                      </a:r>
                      <a:r>
                        <a:rPr sz="1800" spc="-1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Kum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33">
                <a:tc>
                  <a:txBody>
                    <a:bodyPr/>
                    <a:lstStyle/>
                    <a:p>
                      <a:pPr marL="91440">
                        <a:lnSpc>
                          <a:spcPts val="2025"/>
                        </a:lnSpc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Deficiency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5728">
                <a:tc>
                  <a:txBody>
                    <a:bodyPr/>
                    <a:lstStyle/>
                    <a:p>
                      <a:pPr marL="9144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Detection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61022" y="1212850"/>
          <a:ext cx="11057889" cy="5486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9914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72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203200">
                        <a:lnSpc>
                          <a:spcPts val="207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PUBLISHED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436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Deep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Learning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Supreetha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S,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124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25" dirty="0">
                          <a:latin typeface="Verdana"/>
                          <a:cs typeface="Verdana"/>
                        </a:rPr>
                        <a:t>2024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635" marR="92710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ResNet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SVM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45847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99.05%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Dependency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705">
                        <a:lnSpc>
                          <a:spcPts val="21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Augmentation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–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1,156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7150">
                        <a:lnSpc>
                          <a:spcPts val="2135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4,963,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ts val="213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Scope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(N,P,K)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Techniques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to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Premalathamma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Detect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Nutrient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R,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Deficiency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in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5645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Rice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Plants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388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Nutrient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Nurbaity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Sabri,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2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AlexNet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40005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90.85%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10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 marR="6800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90 images,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Identifices</a:t>
                      </a:r>
                      <a:r>
                        <a:rPr sz="1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5570" marR="387985" indent="-58419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Nutrient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Deficiencies i.e.,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Nitrogen(N),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Magnesium(Mg),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Potassium(K)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08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Deficiency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Zuhri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Arafah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Classification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Zulkifli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Using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AlexNet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4745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Architecture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670042"/>
              <a:ext cx="4037075" cy="41879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892551"/>
              <a:ext cx="1522475" cy="236524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6028" y="6095996"/>
            <a:ext cx="993648" cy="761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99476" y="0"/>
            <a:ext cx="1603248" cy="114147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398252" y="0"/>
            <a:ext cx="760730" cy="1203960"/>
            <a:chOff x="10398252" y="0"/>
            <a:chExt cx="760730" cy="120396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E1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997608"/>
              </p:ext>
            </p:extLst>
          </p:nvPr>
        </p:nvGraphicFramePr>
        <p:xfrm>
          <a:off x="519137" y="1204213"/>
          <a:ext cx="11133453" cy="5444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37795" indent="2286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YEAR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PUBLI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ED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00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393">
                <a:tc>
                  <a:txBody>
                    <a:bodyPr/>
                    <a:lstStyle/>
                    <a:p>
                      <a:pPr marL="90805">
                        <a:lnSpc>
                          <a:spcPts val="2035"/>
                        </a:lnSpc>
                        <a:spcBef>
                          <a:spcPts val="254"/>
                        </a:spcBef>
                      </a:pPr>
                      <a:r>
                        <a:rPr sz="1800" spc="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na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g</a:t>
                      </a:r>
                      <a:r>
                        <a:rPr sz="18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th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Junior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2024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57150" marR="391160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Incep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V3  CNN,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VGG-16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400050" marR="302260" indent="-343535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Incep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io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V3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93%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57785">
                        <a:lnSpc>
                          <a:spcPts val="20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Dependency,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705" marR="306070" indent="444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Trade-Off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Interpretability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075">
                <a:tc>
                  <a:txBody>
                    <a:bodyPr/>
                    <a:lstStyle/>
                    <a:p>
                      <a:pPr marL="90805">
                        <a:lnSpc>
                          <a:spcPts val="2005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Pe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ma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5"/>
                        </a:lnSpc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Mkhatshwa,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858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nte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ta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il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Tatenda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CNN-Based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Kavu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rc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826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Deficiency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240">
                <a:tc>
                  <a:txBody>
                    <a:bodyPr/>
                    <a:lstStyle/>
                    <a:p>
                      <a:pPr marL="90805">
                        <a:lnSpc>
                          <a:spcPts val="2090"/>
                        </a:lnSpc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Identification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36">
                <a:tc>
                  <a:txBody>
                    <a:bodyPr/>
                    <a:lstStyle/>
                    <a:p>
                      <a:pPr marL="90805">
                        <a:lnSpc>
                          <a:spcPts val="2035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Ex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g</a:t>
                      </a:r>
                      <a:r>
                        <a:rPr sz="1800" spc="-1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-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Zeki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Gul,</a:t>
                      </a: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57150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VGG16,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57150" marR="259079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DenseNet201, </a:t>
                      </a:r>
                      <a:r>
                        <a:rPr sz="1800" spc="-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ResNet101V2, 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635" algn="just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VGG16-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93.8%</a:t>
                      </a:r>
                    </a:p>
                    <a:p>
                      <a:pPr marL="635" marR="91440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DenseNet-90%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ResNet-86.37% 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635" marR="52705">
                        <a:lnSpc>
                          <a:spcPts val="216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Dependency on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Pre-Trained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Implementation 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Complexity,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012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55" dirty="0">
                          <a:latin typeface="Verdana"/>
                          <a:cs typeface="Verdana"/>
                        </a:rPr>
                        <a:t>Trained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ra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95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Convolutional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3412">
                <a:tc>
                  <a:txBody>
                    <a:bodyPr/>
                    <a:lstStyle/>
                    <a:p>
                      <a:pPr marL="90805" marR="375285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w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or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k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  for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12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Detection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546">
                <a:tc>
                  <a:txBody>
                    <a:bodyPr/>
                    <a:lstStyle/>
                    <a:p>
                      <a:pPr marL="90805">
                        <a:lnSpc>
                          <a:spcPts val="2000"/>
                        </a:lnSpc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Nutrient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465">
                <a:tc>
                  <a:txBody>
                    <a:bodyPr/>
                    <a:lstStyle/>
                    <a:p>
                      <a:pPr marL="90805">
                        <a:lnSpc>
                          <a:spcPts val="1964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880">
                <a:tc>
                  <a:txBody>
                    <a:bodyPr/>
                    <a:lstStyle/>
                    <a:p>
                      <a:pPr marL="90805">
                        <a:lnSpc>
                          <a:spcPts val="209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yd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800" spc="-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824261"/>
              </p:ext>
            </p:extLst>
          </p:nvPr>
        </p:nvGraphicFramePr>
        <p:xfrm>
          <a:off x="527050" y="1246886"/>
          <a:ext cx="11127104" cy="537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5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30148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 marR="249554" indent="99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YEAR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PUBLI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393"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Nutrient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5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S.Adinarayana,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2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DenseNet,VGG,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069">
                        <a:lnSpc>
                          <a:spcPts val="21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MobileNet,CNN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0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MobileNet-98%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57150">
                        <a:lnSpc>
                          <a:spcPts val="2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Complexity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705" marR="710565">
                        <a:lnSpc>
                          <a:spcPts val="2160"/>
                        </a:lnSpc>
                        <a:spcBef>
                          <a:spcPts val="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Requi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nts,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7150" marR="64135">
                        <a:lnSpc>
                          <a:spcPts val="216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Data Dependency,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Execution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Complexity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012"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Deficiency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S.Hrushikesava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95"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Detection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Raju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938">
                <a:tc>
                  <a:txBody>
                    <a:bodyPr/>
                    <a:lstStyle/>
                    <a:p>
                      <a:pPr marL="91440">
                        <a:lnSpc>
                          <a:spcPts val="199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Using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0278">
                <a:tc>
                  <a:txBody>
                    <a:bodyPr/>
                    <a:lstStyle/>
                    <a:p>
                      <a:pPr marL="9144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Mobile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Net: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91440" marR="544195">
                        <a:lnSpc>
                          <a:spcPts val="23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AI-based </a:t>
                      </a:r>
                      <a:r>
                        <a:rPr sz="1800" spc="-6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Solution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689"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Detection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of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5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Jai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2023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57150">
                        <a:lnSpc>
                          <a:spcPts val="211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         92%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57150">
                        <a:lnSpc>
                          <a:spcPts val="20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Computational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705">
                        <a:lnSpc>
                          <a:spcPts val="215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Requirements,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705" marR="499109" indent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Data Quality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Diversity,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Overfitting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Risks.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546"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h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10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th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15" dirty="0">
                          <a:latin typeface="Verdana"/>
                          <a:cs typeface="Verdana"/>
                        </a:rPr>
                        <a:t>Vardhan,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012"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cr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Kothapalli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rone</a:t>
                      </a:r>
                      <a:r>
                        <a:rPr sz="18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ca</a:t>
                      </a:r>
                      <a:r>
                        <a:rPr sz="1800" spc="25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800" spc="30" dirty="0">
                          <a:latin typeface="Verdana"/>
                          <a:cs typeface="Verdana"/>
                        </a:rPr>
                        <a:t>tur</a:t>
                      </a:r>
                      <a:r>
                        <a:rPr sz="1800" spc="2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00"/>
                        </a:lnSpc>
                      </a:pPr>
                      <a:r>
                        <a:rPr sz="18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w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tha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3425">
                <a:tc>
                  <a:txBody>
                    <a:bodyPr/>
                    <a:lstStyle/>
                    <a:p>
                      <a:pPr marL="91440" marR="459105">
                        <a:lnSpc>
                          <a:spcPts val="2100"/>
                        </a:lnSpc>
                      </a:pPr>
                      <a:r>
                        <a:rPr sz="1800" spc="3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ma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g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800" spc="2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g 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Deep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0599">
                <a:tc>
                  <a:txBody>
                    <a:bodyPr/>
                    <a:lstStyle/>
                    <a:p>
                      <a:pPr marL="91440">
                        <a:lnSpc>
                          <a:spcPts val="2125"/>
                        </a:lnSpc>
                      </a:pPr>
                      <a:r>
                        <a:rPr sz="1800" spc="-35" dirty="0">
                          <a:latin typeface="Verdana"/>
                          <a:cs typeface="Verdana"/>
                        </a:rPr>
                        <a:t>Learning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621" y="1652092"/>
            <a:ext cx="9251315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existing work utilizes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Convolutional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Neural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Networks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(CNNs)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diagnosis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plant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nutrient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deficiencies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through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analysis.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method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focuses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accurately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classifying 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single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nutrient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deficiency in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plant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leaves.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process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involves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capturing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high-resolution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images,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them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isolate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leaf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pixels,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dividing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images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into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smaller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blocks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detailed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analysis.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pre-trained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fine-tuned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CNN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model is used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extract features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these blocks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detect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signs of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specific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nutritional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deficiency.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primary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aim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determine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whether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block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 leaf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pixels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exhibits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symptoms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 one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nutrient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deficiency,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providing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accurate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 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guide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appropriate</a:t>
            </a:r>
            <a:r>
              <a:rPr sz="20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nutritional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interventions.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9759" y="744474"/>
            <a:ext cx="25965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85" dirty="0"/>
              <a:t>Ex</a:t>
            </a:r>
            <a:r>
              <a:rPr sz="3200" spc="-180" dirty="0"/>
              <a:t>i</a:t>
            </a:r>
            <a:r>
              <a:rPr sz="3200" spc="-185" dirty="0"/>
              <a:t>s</a:t>
            </a:r>
            <a:r>
              <a:rPr sz="3200" spc="-180" dirty="0"/>
              <a:t>ti</a:t>
            </a:r>
            <a:r>
              <a:rPr sz="3200" spc="-195" dirty="0"/>
              <a:t>n</a:t>
            </a:r>
            <a:r>
              <a:rPr sz="3200" dirty="0"/>
              <a:t>g</a:t>
            </a:r>
            <a:r>
              <a:rPr sz="3200" spc="-330" dirty="0"/>
              <a:t> </a:t>
            </a:r>
            <a:r>
              <a:rPr sz="3200" spc="-200" dirty="0"/>
              <a:t>W</a:t>
            </a:r>
            <a:r>
              <a:rPr sz="3200" spc="-190" dirty="0"/>
              <a:t>or</a:t>
            </a:r>
            <a:r>
              <a:rPr sz="3200" dirty="0"/>
              <a:t>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611" y="963930"/>
            <a:ext cx="2996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5" dirty="0"/>
              <a:t>P</a:t>
            </a:r>
            <a:r>
              <a:rPr sz="3200" spc="-60" dirty="0"/>
              <a:t>ro</a:t>
            </a:r>
            <a:r>
              <a:rPr sz="3200" spc="-65" dirty="0"/>
              <a:t>p</a:t>
            </a:r>
            <a:r>
              <a:rPr sz="3200" spc="-60" dirty="0"/>
              <a:t>o</a:t>
            </a:r>
            <a:r>
              <a:rPr sz="3200" spc="-70" dirty="0"/>
              <a:t>s</a:t>
            </a:r>
            <a:r>
              <a:rPr sz="3200" spc="-55" dirty="0"/>
              <a:t>e</a:t>
            </a:r>
            <a:r>
              <a:rPr sz="3200" dirty="0"/>
              <a:t>d</a:t>
            </a:r>
            <a:r>
              <a:rPr sz="3200" spc="-180" dirty="0"/>
              <a:t> </a:t>
            </a:r>
            <a:r>
              <a:rPr sz="3200" spc="-195" dirty="0"/>
              <a:t>W</a:t>
            </a:r>
            <a:r>
              <a:rPr sz="3200" spc="-190" dirty="0"/>
              <a:t>or</a:t>
            </a:r>
            <a:r>
              <a:rPr sz="3200" dirty="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696" y="1707895"/>
            <a:ext cx="925957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5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proposed work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builds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upon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existing approach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by incorporating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multi-label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capable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detecting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multiple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nutrient</a:t>
            </a:r>
            <a:r>
              <a:rPr sz="200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deficiencies</a:t>
            </a:r>
            <a:r>
              <a:rPr sz="2000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4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plant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simultaneously.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sz="2000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begins</a:t>
            </a:r>
            <a:r>
              <a:rPr sz="2000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4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capturing</a:t>
            </a:r>
            <a:r>
              <a:rPr sz="2000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high-resolution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images under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consistent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lighting conditions,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followed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normalizing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segmenting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sz="20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20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leaf</a:t>
            </a:r>
            <a:r>
              <a:rPr sz="20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pixels.</a:t>
            </a:r>
            <a:r>
              <a:rPr sz="2000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sz="2000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0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divided</a:t>
            </a:r>
            <a:r>
              <a:rPr sz="20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smaller</a:t>
            </a:r>
            <a:r>
              <a:rPr sz="20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blocks,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fine-tuned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extracts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Unlike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single-label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approach,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multi-label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combinations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deficiencies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and assesses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their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severity.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severity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and type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deficiencies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detected,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recommends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specific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treatment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plans,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detailing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methods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 timing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ensure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effective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intervention. This comprehensive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approach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aims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improve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diagnostic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accuracy,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offer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precise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treatment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recommendations, and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optimize</a:t>
            </a:r>
            <a:r>
              <a:rPr sz="20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use,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thereby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enhancing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plant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health.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22E0-104E-6199-E3A0-FE077C1A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32" y="381004"/>
            <a:ext cx="10701934" cy="1302445"/>
          </a:xfrm>
        </p:spPr>
        <p:txBody>
          <a:bodyPr/>
          <a:lstStyle/>
          <a:p>
            <a:r>
              <a:rPr lang="en-IN" sz="3200" dirty="0"/>
              <a:t>Proposed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B2985B-CAC3-60D8-95D4-ADD9ED49D65A}"/>
              </a:ext>
            </a:extLst>
          </p:cNvPr>
          <p:cNvSpPr/>
          <p:nvPr/>
        </p:nvSpPr>
        <p:spPr>
          <a:xfrm>
            <a:off x="745032" y="1440752"/>
            <a:ext cx="1540968" cy="616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Plant Village</a:t>
            </a:r>
          </a:p>
          <a:p>
            <a:pPr algn="ctr"/>
            <a:r>
              <a:rPr lang="en-IN" dirty="0"/>
              <a:t>Dataset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0C7415-BAF2-B7D9-7CCF-F0EED5C6EB0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86000" y="1749076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86460-C95A-94B3-0E01-81D281DF50F1}"/>
              </a:ext>
            </a:extLst>
          </p:cNvPr>
          <p:cNvSpPr/>
          <p:nvPr/>
        </p:nvSpPr>
        <p:spPr>
          <a:xfrm>
            <a:off x="3328219" y="1417771"/>
            <a:ext cx="1981200" cy="616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 Splitting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C88DE9-283F-7E56-9D03-4B1B03A70CE2}"/>
              </a:ext>
            </a:extLst>
          </p:cNvPr>
          <p:cNvSpPr/>
          <p:nvPr/>
        </p:nvSpPr>
        <p:spPr>
          <a:xfrm>
            <a:off x="2244213" y="2417348"/>
            <a:ext cx="1981200" cy="4571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Training Set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24A6A4-A386-8734-7198-F6AC18BA85A3}"/>
              </a:ext>
            </a:extLst>
          </p:cNvPr>
          <p:cNvSpPr/>
          <p:nvPr/>
        </p:nvSpPr>
        <p:spPr>
          <a:xfrm>
            <a:off x="4557252" y="2440860"/>
            <a:ext cx="2057400" cy="4571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Testing 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D5BC1C-8C16-E37F-B72C-D3105C9D94A7}"/>
              </a:ext>
            </a:extLst>
          </p:cNvPr>
          <p:cNvCxnSpPr>
            <a:cxnSpLocks/>
          </p:cNvCxnSpPr>
          <p:nvPr/>
        </p:nvCxnSpPr>
        <p:spPr>
          <a:xfrm flipH="1">
            <a:off x="3429000" y="2057400"/>
            <a:ext cx="381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DBE24C-D267-C95F-F2CA-72B8E473964C}"/>
              </a:ext>
            </a:extLst>
          </p:cNvPr>
          <p:cNvCxnSpPr>
            <a:cxnSpLocks/>
          </p:cNvCxnSpPr>
          <p:nvPr/>
        </p:nvCxnSpPr>
        <p:spPr>
          <a:xfrm>
            <a:off x="4572000" y="2057400"/>
            <a:ext cx="381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466AB1-5B0A-BABC-6164-07221D3D2264}"/>
              </a:ext>
            </a:extLst>
          </p:cNvPr>
          <p:cNvSpPr/>
          <p:nvPr/>
        </p:nvSpPr>
        <p:spPr>
          <a:xfrm>
            <a:off x="1066800" y="3269553"/>
            <a:ext cx="1828800" cy="4571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Model Training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4864AC-403C-B98F-F67C-94EF35783EF3}"/>
              </a:ext>
            </a:extLst>
          </p:cNvPr>
          <p:cNvCxnSpPr/>
          <p:nvPr/>
        </p:nvCxnSpPr>
        <p:spPr>
          <a:xfrm flipH="1">
            <a:off x="2286000" y="2895599"/>
            <a:ext cx="381000" cy="37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7F06E1-3CFA-949B-6A3D-B8A0196B2559}"/>
              </a:ext>
            </a:extLst>
          </p:cNvPr>
          <p:cNvCxnSpPr>
            <a:cxnSpLocks/>
          </p:cNvCxnSpPr>
          <p:nvPr/>
        </p:nvCxnSpPr>
        <p:spPr>
          <a:xfrm>
            <a:off x="3619500" y="2961230"/>
            <a:ext cx="495300" cy="273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F4BD12-41C3-4931-6980-3DD8F113354E}"/>
              </a:ext>
            </a:extLst>
          </p:cNvPr>
          <p:cNvCxnSpPr>
            <a:cxnSpLocks/>
          </p:cNvCxnSpPr>
          <p:nvPr/>
        </p:nvCxnSpPr>
        <p:spPr>
          <a:xfrm flipH="1">
            <a:off x="4762500" y="2929693"/>
            <a:ext cx="3429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6DA637-A16E-8CF3-3B8E-3C7A20A9902A}"/>
              </a:ext>
            </a:extLst>
          </p:cNvPr>
          <p:cNvSpPr/>
          <p:nvPr/>
        </p:nvSpPr>
        <p:spPr>
          <a:xfrm>
            <a:off x="3619499" y="3304500"/>
            <a:ext cx="1828799" cy="5365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Model Testing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DB65224-7C06-3548-FC76-EB9F6D6AF510}"/>
              </a:ext>
            </a:extLst>
          </p:cNvPr>
          <p:cNvSpPr/>
          <p:nvPr/>
        </p:nvSpPr>
        <p:spPr>
          <a:xfrm>
            <a:off x="3619498" y="4364253"/>
            <a:ext cx="1828800" cy="5033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Evaluation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DC11015-A9F5-C4E3-6899-0583AE1C82F6}"/>
              </a:ext>
            </a:extLst>
          </p:cNvPr>
          <p:cNvSpPr/>
          <p:nvPr/>
        </p:nvSpPr>
        <p:spPr>
          <a:xfrm>
            <a:off x="3619498" y="5440230"/>
            <a:ext cx="1828800" cy="5033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Comparison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091C4C-3FE8-7DC7-A969-3B44CD66556F}"/>
              </a:ext>
            </a:extLst>
          </p:cNvPr>
          <p:cNvSpPr/>
          <p:nvPr/>
        </p:nvSpPr>
        <p:spPr>
          <a:xfrm>
            <a:off x="6324600" y="5423638"/>
            <a:ext cx="2209800" cy="5726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Conclusion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A0A858-EF44-D35E-2D4A-FE57F134FA3A}"/>
              </a:ext>
            </a:extLst>
          </p:cNvPr>
          <p:cNvCxnSpPr/>
          <p:nvPr/>
        </p:nvCxnSpPr>
        <p:spPr>
          <a:xfrm>
            <a:off x="4225413" y="3841008"/>
            <a:ext cx="0" cy="52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622596-2DDA-A3CC-7785-CD9335132775}"/>
              </a:ext>
            </a:extLst>
          </p:cNvPr>
          <p:cNvCxnSpPr/>
          <p:nvPr/>
        </p:nvCxnSpPr>
        <p:spPr>
          <a:xfrm>
            <a:off x="4225413" y="4867623"/>
            <a:ext cx="0" cy="57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F46A3C3-AF05-8808-C5C6-2379452699CD}"/>
              </a:ext>
            </a:extLst>
          </p:cNvPr>
          <p:cNvCxnSpPr/>
          <p:nvPr/>
        </p:nvCxnSpPr>
        <p:spPr>
          <a:xfrm>
            <a:off x="5448298" y="5715000"/>
            <a:ext cx="876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BFD57AA-A6ED-7A72-34CB-36B90543FC73}"/>
              </a:ext>
            </a:extLst>
          </p:cNvPr>
          <p:cNvSpPr/>
          <p:nvPr/>
        </p:nvSpPr>
        <p:spPr>
          <a:xfrm>
            <a:off x="914400" y="4364253"/>
            <a:ext cx="1904997" cy="119834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MobileNet</a:t>
            </a:r>
            <a:r>
              <a:rPr lang="en-IN" dirty="0"/>
              <a:t> V1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57718EE-F725-3403-EADA-F3CA8B860A64}"/>
              </a:ext>
            </a:extLst>
          </p:cNvPr>
          <p:cNvCxnSpPr/>
          <p:nvPr/>
        </p:nvCxnSpPr>
        <p:spPr>
          <a:xfrm>
            <a:off x="1524000" y="3726750"/>
            <a:ext cx="0" cy="637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95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0EC2-5FAC-62C9-A6A9-94844850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1"/>
            <a:ext cx="10761166" cy="762000"/>
          </a:xfrm>
        </p:spPr>
        <p:txBody>
          <a:bodyPr/>
          <a:lstStyle/>
          <a:p>
            <a:r>
              <a:rPr lang="en-IN" dirty="0" err="1"/>
              <a:t>MobileNet</a:t>
            </a:r>
            <a:r>
              <a:rPr lang="en-IN" dirty="0"/>
              <a:t> V1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E94AC-4CC2-BC30-1AC6-DA5A4CF3C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DB7D9-9EA4-3E95-F8A2-7521EAD0B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91141"/>
            <a:ext cx="10820400" cy="505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34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611" y="904748"/>
            <a:ext cx="2374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C</a:t>
            </a:r>
            <a:r>
              <a:rPr spc="-85" dirty="0"/>
              <a:t>O</a:t>
            </a:r>
            <a:r>
              <a:rPr spc="-75" dirty="0"/>
              <a:t>NC</a:t>
            </a:r>
            <a:r>
              <a:rPr spc="-85" dirty="0"/>
              <a:t>L</a:t>
            </a:r>
            <a:r>
              <a:rPr spc="-80" dirty="0"/>
              <a:t>U</a:t>
            </a:r>
            <a:r>
              <a:rPr spc="-75" dirty="0"/>
              <a:t>SI</a:t>
            </a:r>
            <a:r>
              <a:rPr spc="-85" dirty="0"/>
              <a:t>O</a:t>
            </a:r>
            <a:r>
              <a:rPr spc="-5"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3788" y="1605483"/>
            <a:ext cx="193293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8D0D4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  <a:tab pos="76073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conclusion,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6688" y="1910842"/>
            <a:ext cx="143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Convolutional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9935" y="1605483"/>
            <a:ext cx="71812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553085" algn="l"/>
                <a:tab pos="1292225" algn="l"/>
                <a:tab pos="2342515" algn="l"/>
                <a:tab pos="3767454" algn="l"/>
                <a:tab pos="4965700" algn="l"/>
                <a:tab pos="590613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	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plant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nutrient	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deficiencies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detection	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project	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employing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tabLst>
                <a:tab pos="865505" algn="l"/>
                <a:tab pos="2031364" algn="l"/>
                <a:tab pos="2929255" algn="l"/>
                <a:tab pos="4206240" algn="l"/>
                <a:tab pos="4506595" algn="l"/>
                <a:tab pos="5384800" algn="l"/>
                <a:tab pos="696340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	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	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(C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)	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ts	a	p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	a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anc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	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precision </a:t>
            </a:r>
            <a:r>
              <a:rPr spc="-10" dirty="0"/>
              <a:t>agriculture, </a:t>
            </a:r>
            <a:r>
              <a:rPr spc="-5" dirty="0"/>
              <a:t>with </a:t>
            </a:r>
            <a:r>
              <a:rPr spc="-20" dirty="0"/>
              <a:t>profound </a:t>
            </a:r>
            <a:r>
              <a:rPr spc="-5" dirty="0"/>
              <a:t>implications </a:t>
            </a:r>
            <a:r>
              <a:rPr spc="-15" dirty="0"/>
              <a:t>for crop </a:t>
            </a:r>
            <a:r>
              <a:rPr spc="-5" dirty="0"/>
              <a:t>management and </a:t>
            </a:r>
            <a:r>
              <a:rPr spc="-10" dirty="0"/>
              <a:t>global </a:t>
            </a:r>
            <a:r>
              <a:rPr spc="-5" dirty="0"/>
              <a:t> </a:t>
            </a:r>
            <a:r>
              <a:rPr spc="-15" dirty="0"/>
              <a:t>food </a:t>
            </a:r>
            <a:r>
              <a:rPr spc="-20" dirty="0"/>
              <a:t>security. </a:t>
            </a:r>
            <a:r>
              <a:rPr spc="-10" dirty="0"/>
              <a:t>Through </a:t>
            </a:r>
            <a:r>
              <a:rPr dirty="0"/>
              <a:t>the </a:t>
            </a:r>
            <a:r>
              <a:rPr spc="-15" dirty="0"/>
              <a:t>integration </a:t>
            </a:r>
            <a:r>
              <a:rPr spc="-5" dirty="0"/>
              <a:t>of deep </a:t>
            </a:r>
            <a:r>
              <a:rPr dirty="0"/>
              <a:t>learning </a:t>
            </a:r>
            <a:r>
              <a:rPr spc="-20" dirty="0"/>
              <a:t>technology, </a:t>
            </a:r>
            <a:r>
              <a:rPr spc="-10" dirty="0"/>
              <a:t>the </a:t>
            </a:r>
            <a:r>
              <a:rPr spc="-15" dirty="0"/>
              <a:t>project </a:t>
            </a:r>
            <a:r>
              <a:rPr spc="-10" dirty="0"/>
              <a:t>not </a:t>
            </a:r>
            <a:r>
              <a:rPr spc="-5" dirty="0"/>
              <a:t> </a:t>
            </a:r>
            <a:r>
              <a:rPr spc="-10" dirty="0"/>
              <a:t>only </a:t>
            </a:r>
            <a:r>
              <a:rPr spc="-5" dirty="0"/>
              <a:t>addresses </a:t>
            </a:r>
            <a:r>
              <a:rPr spc="-25" dirty="0"/>
              <a:t>key </a:t>
            </a:r>
            <a:r>
              <a:rPr spc="-5" dirty="0"/>
              <a:t>challenges in </a:t>
            </a:r>
            <a:r>
              <a:rPr spc="-10" dirty="0"/>
              <a:t>nutrient </a:t>
            </a:r>
            <a:r>
              <a:rPr spc="-5" dirty="0"/>
              <a:t>deficiency identification but also </a:t>
            </a:r>
            <a:r>
              <a:rPr spc="-15" dirty="0"/>
              <a:t>paves </a:t>
            </a:r>
            <a:r>
              <a:rPr dirty="0"/>
              <a:t>the </a:t>
            </a:r>
            <a:r>
              <a:rPr spc="5" dirty="0"/>
              <a:t> </a:t>
            </a:r>
            <a:r>
              <a:rPr spc="-15" dirty="0"/>
              <a:t>way </a:t>
            </a:r>
            <a:r>
              <a:rPr spc="-10" dirty="0"/>
              <a:t>for </a:t>
            </a:r>
            <a:r>
              <a:rPr spc="-15" dirty="0"/>
              <a:t>transformative </a:t>
            </a:r>
            <a:r>
              <a:rPr spc="-5" dirty="0"/>
              <a:t>changes in </a:t>
            </a:r>
            <a:r>
              <a:rPr spc="-10" dirty="0"/>
              <a:t>modern </a:t>
            </a:r>
            <a:r>
              <a:rPr spc="-15" dirty="0"/>
              <a:t>farming </a:t>
            </a:r>
            <a:r>
              <a:rPr spc="-5" dirty="0"/>
              <a:t>practices. This can be </a:t>
            </a:r>
            <a:r>
              <a:rPr spc="-15" dirty="0"/>
              <a:t>utilized </a:t>
            </a:r>
            <a:r>
              <a:rPr spc="-5" dirty="0"/>
              <a:t>in </a:t>
            </a:r>
            <a:r>
              <a:rPr dirty="0"/>
              <a:t> </a:t>
            </a:r>
            <a:r>
              <a:rPr spc="-5" dirty="0"/>
              <a:t>future</a:t>
            </a:r>
            <a:r>
              <a:rPr dirty="0"/>
              <a:t> </a:t>
            </a:r>
            <a:r>
              <a:rPr spc="-10" dirty="0"/>
              <a:t>to </a:t>
            </a:r>
            <a:r>
              <a:rPr dirty="0"/>
              <a:t>classify</a:t>
            </a:r>
            <a:r>
              <a:rPr spc="5" dirty="0"/>
              <a:t> </a:t>
            </a:r>
            <a:r>
              <a:rPr dirty="0"/>
              <a:t>the </a:t>
            </a:r>
            <a:r>
              <a:rPr spc="-10" dirty="0"/>
              <a:t>types</a:t>
            </a:r>
            <a:r>
              <a:rPr spc="-5" dirty="0"/>
              <a:t> of </a:t>
            </a:r>
            <a:r>
              <a:rPr spc="-15" dirty="0"/>
              <a:t>different </a:t>
            </a:r>
            <a:r>
              <a:rPr spc="-5" dirty="0"/>
              <a:t>Deficiencies</a:t>
            </a:r>
            <a:r>
              <a:rPr dirty="0"/>
              <a:t> </a:t>
            </a:r>
            <a:r>
              <a:rPr spc="-5" dirty="0"/>
              <a:t>easily</a:t>
            </a:r>
            <a:r>
              <a:rPr dirty="0"/>
              <a:t> </a:t>
            </a:r>
            <a:r>
              <a:rPr spc="-5" dirty="0"/>
              <a:t>that</a:t>
            </a:r>
            <a:r>
              <a:rPr dirty="0"/>
              <a:t> </a:t>
            </a:r>
            <a:r>
              <a:rPr spc="-15" dirty="0"/>
              <a:t>which</a:t>
            </a:r>
            <a:r>
              <a:rPr spc="-10" dirty="0"/>
              <a:t> </a:t>
            </a:r>
            <a:r>
              <a:rPr spc="-5" dirty="0"/>
              <a:t>can</a:t>
            </a:r>
            <a:r>
              <a:rPr spc="440" dirty="0"/>
              <a:t> </a:t>
            </a:r>
            <a:r>
              <a:rPr spc="-5" dirty="0"/>
              <a:t>tend</a:t>
            </a:r>
            <a:r>
              <a:rPr spc="440" dirty="0"/>
              <a:t> </a:t>
            </a:r>
            <a:r>
              <a:rPr spc="-35" dirty="0"/>
              <a:t>to </a:t>
            </a:r>
            <a:r>
              <a:rPr spc="-440" dirty="0"/>
              <a:t> </a:t>
            </a:r>
            <a:r>
              <a:rPr spc="-10" dirty="0"/>
              <a:t>easy </a:t>
            </a:r>
            <a:r>
              <a:rPr spc="-15" dirty="0"/>
              <a:t>to Predicated</a:t>
            </a:r>
            <a:r>
              <a:rPr spc="-10" dirty="0"/>
              <a:t> </a:t>
            </a:r>
            <a:r>
              <a:rPr dirty="0"/>
              <a:t>the </a:t>
            </a:r>
            <a:r>
              <a:rPr spc="-5" dirty="0"/>
              <a:t>Nutrient </a:t>
            </a:r>
            <a:r>
              <a:rPr spc="-15" dirty="0"/>
              <a:t>for </a:t>
            </a:r>
            <a:r>
              <a:rPr spc="-10" dirty="0"/>
              <a:t>plant in </a:t>
            </a:r>
            <a:r>
              <a:rPr spc="-5" dirty="0"/>
              <a:t>early </a:t>
            </a:r>
            <a:r>
              <a:rPr spc="-15" dirty="0"/>
              <a:t>stages</a:t>
            </a:r>
            <a:r>
              <a:rPr spc="420" dirty="0"/>
              <a:t> </a:t>
            </a:r>
            <a:r>
              <a:rPr dirty="0"/>
              <a:t>and </a:t>
            </a:r>
            <a:r>
              <a:rPr spc="-5" dirty="0"/>
              <a:t>can</a:t>
            </a:r>
            <a:r>
              <a:rPr spc="440" dirty="0"/>
              <a:t> </a:t>
            </a:r>
            <a:r>
              <a:rPr spc="-20" dirty="0"/>
              <a:t>take </a:t>
            </a:r>
            <a:r>
              <a:rPr dirty="0"/>
              <a:t>the </a:t>
            </a:r>
            <a:r>
              <a:rPr spc="-5" dirty="0"/>
              <a:t>initial </a:t>
            </a:r>
            <a:r>
              <a:rPr dirty="0"/>
              <a:t> curing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5" dirty="0"/>
              <a:t>plants </a:t>
            </a:r>
            <a:r>
              <a:rPr dirty="0"/>
              <a:t>and</a:t>
            </a:r>
            <a:r>
              <a:rPr spc="-15" dirty="0"/>
              <a:t> </a:t>
            </a:r>
            <a:r>
              <a:rPr spc="-20" dirty="0"/>
              <a:t>take</a:t>
            </a:r>
            <a:r>
              <a:rPr spc="-25" dirty="0"/>
              <a:t> </a:t>
            </a:r>
            <a:r>
              <a:rPr dirty="0"/>
              <a:t>measures</a:t>
            </a:r>
            <a:r>
              <a:rPr spc="-15" dirty="0"/>
              <a:t> </a:t>
            </a:r>
            <a:r>
              <a:rPr spc="-10" dirty="0"/>
              <a:t>to</a:t>
            </a:r>
            <a:r>
              <a:rPr spc="-20" dirty="0"/>
              <a:t> </a:t>
            </a:r>
            <a:r>
              <a:rPr spc="-5" dirty="0"/>
              <a:t>not</a:t>
            </a:r>
            <a:r>
              <a:rPr spc="-30" dirty="0"/>
              <a:t> </a:t>
            </a:r>
            <a:r>
              <a:rPr spc="-15" dirty="0"/>
              <a:t>affect</a:t>
            </a:r>
            <a:r>
              <a:rPr spc="-20" dirty="0"/>
              <a:t> </a:t>
            </a:r>
            <a:r>
              <a:rPr spc="-5" dirty="0"/>
              <a:t>other</a:t>
            </a:r>
            <a:r>
              <a:rPr spc="-30" dirty="0"/>
              <a:t> </a:t>
            </a:r>
            <a:r>
              <a:rPr spc="-5" dirty="0"/>
              <a:t>plants.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7766" y="2512263"/>
            <a:ext cx="448437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4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6600" b="0" spc="-43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6600" b="0" spc="-4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6600" b="0" spc="-43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6600" b="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6600" b="0" spc="-86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600" b="0" spc="-4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6600" b="0" spc="-39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sz="6600" b="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endParaRPr sz="6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1102</Words>
  <Application>Microsoft Office PowerPoint</Application>
  <PresentationFormat>Widescreen</PresentationFormat>
  <Paragraphs>227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Tahoma</vt:lpstr>
      <vt:lpstr>Times New Roman</vt:lpstr>
      <vt:lpstr>Verdana</vt:lpstr>
      <vt:lpstr>Wingdings</vt:lpstr>
      <vt:lpstr>Office Theme</vt:lpstr>
      <vt:lpstr>DEEP LEARNING CNN –BASED IDENTIFICATION OF PLANT  NUTRIENT DEFICIENCY</vt:lpstr>
      <vt:lpstr>CONTENTS</vt:lpstr>
      <vt:lpstr>ABSTRACT</vt:lpstr>
      <vt:lpstr>PROBLEM STATEMENT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Existing Work</vt:lpstr>
      <vt:lpstr>Proposed Work</vt:lpstr>
      <vt:lpstr>Proposed Architecture</vt:lpstr>
      <vt:lpstr>MobileNet V1 Architecture</vt:lpstr>
      <vt:lpstr>CONCLUSION</vt:lpstr>
      <vt:lpstr>THANK Y0U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IDENTIFICATION OF PLANT NUTRIENT DEFICIENCY USING DEEP LEARNING-CONVOLUTIONAL NEURAL NETWORK</dc:title>
  <dc:creator>Ganga dhar</dc:creator>
  <cp:lastModifiedBy>BATHULA MALYADRI</cp:lastModifiedBy>
  <cp:revision>2</cp:revision>
  <dcterms:created xsi:type="dcterms:W3CDTF">2024-08-30T15:58:20Z</dcterms:created>
  <dcterms:modified xsi:type="dcterms:W3CDTF">2024-10-04T07:48:55Z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2024-08-30T00:00:00Z</vt:filetime>
  </property>
</Properties>
</file>